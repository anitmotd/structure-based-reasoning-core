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344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267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268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269" r:id="rId39"/>
    <p:sldId id="341" r:id="rId40"/>
    <p:sldId id="342" r:id="rId41"/>
    <p:sldId id="343" r:id="rId42"/>
    <p:sldId id="258" r:id="rId43"/>
    <p:sldId id="307" r:id="rId4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3965" autoAdjust="0"/>
  </p:normalViewPr>
  <p:slideViewPr>
    <p:cSldViewPr showGuides="1">
      <p:cViewPr varScale="1">
        <p:scale>
          <a:sx n="142" d="100"/>
          <a:sy n="142" d="100"/>
        </p:scale>
        <p:origin x="2304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75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5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05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0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24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49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86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21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7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6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45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68ACE-1166-439B-AF27-DC93C271A5F7}" type="datetimeFigureOut">
              <a:rPr lang="ko-KR" altLang="en-US" smtClean="0"/>
              <a:pPr/>
              <a:t>2025-08-17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76562-F33A-4AF3-A0F6-086140FC11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20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11960" y="2708920"/>
            <a:ext cx="4523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양자 암호</a:t>
            </a:r>
            <a:endParaRPr lang="en-US" altLang="ko-KR" sz="2800" b="1" dirty="0"/>
          </a:p>
          <a:p>
            <a:r>
              <a:rPr lang="ko-KR" altLang="ko-KR" sz="2800" b="1" dirty="0"/>
              <a:t>(Quantum Cryptography)</a:t>
            </a:r>
            <a:endParaRPr lang="ko-KR" alt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444208" y="4005064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-윤고딕330" pitchFamily="18" charset="-127"/>
                <a:ea typeface="-윤고딕330" pitchFamily="18" charset="-127"/>
              </a:rPr>
              <a:t>200901421 </a:t>
            </a:r>
            <a:r>
              <a:rPr lang="ko-KR" altLang="en-US" sz="2000" dirty="0">
                <a:latin typeface="-윤고딕330" pitchFamily="18" charset="-127"/>
                <a:ea typeface="-윤고딕330" pitchFamily="18" charset="-127"/>
              </a:rPr>
              <a:t>배성운</a:t>
            </a:r>
            <a:endParaRPr lang="ko-KR" altLang="en-US" sz="1400" dirty="0">
              <a:latin typeface="-윤고딕330" pitchFamily="18" charset="-127"/>
              <a:ea typeface="-윤고딕33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939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27584" y="980785"/>
            <a:ext cx="1757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-윤고딕330" pitchFamily="18" charset="-127"/>
                <a:ea typeface="-윤고딕330" pitchFamily="18" charset="-127"/>
              </a:rPr>
              <a:t>I</a:t>
            </a:r>
            <a:r>
              <a:rPr lang="en-US" altLang="ko-KR" sz="48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-윤고딕330" pitchFamily="18" charset="-127"/>
                <a:ea typeface="-윤고딕330" pitchFamily="18" charset="-127"/>
              </a:rPr>
              <a:t>ndex</a:t>
            </a:r>
            <a:endParaRPr lang="ko-KR" altLang="en-US" sz="4000" dirty="0">
              <a:latin typeface="-윤고딕330" pitchFamily="18" charset="-127"/>
              <a:ea typeface="-윤고딕330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076056" y="1772816"/>
            <a:ext cx="2127124" cy="400287"/>
            <a:chOff x="4578269" y="1996093"/>
            <a:chExt cx="2127124" cy="400287"/>
          </a:xfrm>
        </p:grpSpPr>
        <p:sp>
          <p:nvSpPr>
            <p:cNvPr id="12" name="TextBox 11"/>
            <p:cNvSpPr txBox="1"/>
            <p:nvPr/>
          </p:nvSpPr>
          <p:spPr>
            <a:xfrm>
              <a:off x="5058788" y="1996093"/>
              <a:ext cx="16466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개요 및 특성</a:t>
              </a:r>
              <a:endParaRPr lang="ko-KR" altLang="en-US" sz="2000" dirty="0">
                <a:latin typeface="-윤고딕330" pitchFamily="18" charset="-127"/>
                <a:ea typeface="-윤고딕330" pitchFamily="18" charset="-127"/>
              </a:endParaRP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8250" b="76750" l="10000" r="42875">
                          <a14:foregroundMark x1="20938" y1="44000" x2="23938" y2="42833"/>
                          <a14:foregroundMark x1="27187" y1="41917" x2="28063" y2="42667"/>
                          <a14:foregroundMark x1="28438" y1="42417" x2="30438" y2="43333"/>
                          <a14:foregroundMark x1="35625" y1="64583" x2="32750" y2="71333"/>
                          <a14:foregroundMark x1="29875" y1="73583" x2="30312" y2="68583"/>
                          <a14:foregroundMark x1="19875" y1="71583" x2="19500" y2="67083"/>
                          <a14:foregroundMark x1="15750" y1="67583" x2="16125" y2="6308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91" t="37862" r="58161" b="21772"/>
            <a:stretch/>
          </p:blipFill>
          <p:spPr>
            <a:xfrm>
              <a:off x="4578269" y="1996093"/>
              <a:ext cx="422424" cy="400287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5081662" y="2493654"/>
            <a:ext cx="1780875" cy="400287"/>
            <a:chOff x="4578269" y="1996093"/>
            <a:chExt cx="1780875" cy="400287"/>
          </a:xfrm>
        </p:grpSpPr>
        <p:sp>
          <p:nvSpPr>
            <p:cNvPr id="14" name="TextBox 13"/>
            <p:cNvSpPr txBox="1"/>
            <p:nvPr/>
          </p:nvSpPr>
          <p:spPr>
            <a:xfrm>
              <a:off x="5058788" y="1996093"/>
              <a:ext cx="13003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구현 과정</a:t>
              </a:r>
              <a:endParaRPr lang="ko-KR" altLang="en-US" sz="2000" dirty="0">
                <a:latin typeface="-윤고딕330" pitchFamily="18" charset="-127"/>
                <a:ea typeface="-윤고딕330" pitchFamily="18" charset="-127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8250" b="76750" l="10000" r="42875">
                          <a14:foregroundMark x1="20938" y1="44000" x2="23938" y2="42833"/>
                          <a14:foregroundMark x1="27187" y1="41917" x2="28063" y2="42667"/>
                          <a14:foregroundMark x1="28438" y1="42417" x2="30438" y2="43333"/>
                          <a14:foregroundMark x1="35625" y1="64583" x2="32750" y2="71333"/>
                          <a14:foregroundMark x1="29875" y1="73583" x2="30312" y2="68583"/>
                          <a14:foregroundMark x1="19875" y1="71583" x2="19500" y2="67083"/>
                          <a14:foregroundMark x1="15750" y1="67583" x2="16125" y2="6308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91" t="37862" r="58161" b="21772"/>
            <a:stretch/>
          </p:blipFill>
          <p:spPr>
            <a:xfrm>
              <a:off x="4578269" y="1996093"/>
              <a:ext cx="422424" cy="400287"/>
            </a:xfrm>
            <a:prstGeom prst="rect">
              <a:avLst/>
            </a:prstGeom>
          </p:spPr>
        </p:pic>
      </p:grpSp>
      <p:grpSp>
        <p:nvGrpSpPr>
          <p:cNvPr id="16" name="그룹 15"/>
          <p:cNvGrpSpPr/>
          <p:nvPr/>
        </p:nvGrpSpPr>
        <p:grpSpPr>
          <a:xfrm>
            <a:off x="5087268" y="3214492"/>
            <a:ext cx="1434626" cy="400287"/>
            <a:chOff x="4578269" y="1996093"/>
            <a:chExt cx="1434626" cy="400287"/>
          </a:xfrm>
        </p:grpSpPr>
        <p:sp>
          <p:nvSpPr>
            <p:cNvPr id="17" name="TextBox 16"/>
            <p:cNvSpPr txBox="1"/>
            <p:nvPr/>
          </p:nvSpPr>
          <p:spPr>
            <a:xfrm>
              <a:off x="5058788" y="1996093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err="1"/>
                <a:t>보안성</a:t>
              </a:r>
              <a:endParaRPr lang="ko-KR" altLang="en-US" sz="2000" dirty="0">
                <a:latin typeface="-윤고딕330" pitchFamily="18" charset="-127"/>
                <a:ea typeface="-윤고딕330" pitchFamily="18" charset="-127"/>
              </a:endParaRPr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8250" b="76750" l="10000" r="42875">
                          <a14:foregroundMark x1="20938" y1="44000" x2="23938" y2="42833"/>
                          <a14:foregroundMark x1="27187" y1="41917" x2="28063" y2="42667"/>
                          <a14:foregroundMark x1="28438" y1="42417" x2="30438" y2="43333"/>
                          <a14:foregroundMark x1="35625" y1="64583" x2="32750" y2="71333"/>
                          <a14:foregroundMark x1="29875" y1="73583" x2="30312" y2="68583"/>
                          <a14:foregroundMark x1="19875" y1="71583" x2="19500" y2="67083"/>
                          <a14:foregroundMark x1="15750" y1="67583" x2="16125" y2="6308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91" t="37862" r="58161" b="21772"/>
            <a:stretch/>
          </p:blipFill>
          <p:spPr>
            <a:xfrm>
              <a:off x="4578269" y="1996093"/>
              <a:ext cx="422424" cy="400287"/>
            </a:xfrm>
            <a:prstGeom prst="rect">
              <a:avLst/>
            </a:prstGeom>
          </p:spPr>
        </p:pic>
      </p:grpSp>
      <p:grpSp>
        <p:nvGrpSpPr>
          <p:cNvPr id="19" name="그룹 18"/>
          <p:cNvGrpSpPr/>
          <p:nvPr/>
        </p:nvGrpSpPr>
        <p:grpSpPr>
          <a:xfrm>
            <a:off x="5092874" y="3935330"/>
            <a:ext cx="1434626" cy="400287"/>
            <a:chOff x="4578269" y="1996093"/>
            <a:chExt cx="1434626" cy="400287"/>
          </a:xfrm>
        </p:grpSpPr>
        <p:sp>
          <p:nvSpPr>
            <p:cNvPr id="20" name="TextBox 19"/>
            <p:cNvSpPr txBox="1"/>
            <p:nvPr/>
          </p:nvSpPr>
          <p:spPr>
            <a:xfrm>
              <a:off x="5058788" y="1996093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취약점</a:t>
              </a:r>
              <a:endParaRPr lang="ko-KR" altLang="en-US" sz="2000" dirty="0">
                <a:latin typeface="-윤고딕330" pitchFamily="18" charset="-127"/>
                <a:ea typeface="-윤고딕330" pitchFamily="18" charset="-127"/>
              </a:endParaRPr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8250" b="76750" l="10000" r="42875">
                          <a14:foregroundMark x1="20938" y1="44000" x2="23938" y2="42833"/>
                          <a14:foregroundMark x1="27187" y1="41917" x2="28063" y2="42667"/>
                          <a14:foregroundMark x1="28438" y1="42417" x2="30438" y2="43333"/>
                          <a14:foregroundMark x1="35625" y1="64583" x2="32750" y2="71333"/>
                          <a14:foregroundMark x1="29875" y1="73583" x2="30312" y2="68583"/>
                          <a14:foregroundMark x1="19875" y1="71583" x2="19500" y2="67083"/>
                          <a14:foregroundMark x1="15750" y1="67583" x2="16125" y2="6308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91" t="37862" r="58161" b="21772"/>
            <a:stretch/>
          </p:blipFill>
          <p:spPr>
            <a:xfrm>
              <a:off x="4578269" y="1996093"/>
              <a:ext cx="422424" cy="4002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752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067944" y="2708920"/>
            <a:ext cx="4684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1. </a:t>
            </a:r>
            <a:r>
              <a:rPr lang="ko-KR" altLang="en-US" sz="2800" b="1" dirty="0"/>
              <a:t>양자 암호의 개요 및 특성</a:t>
            </a:r>
          </a:p>
        </p:txBody>
      </p:sp>
    </p:spTree>
    <p:extLst>
      <p:ext uri="{BB962C8B-B14F-4D97-AF65-F5344CB8AC3E}">
        <p14:creationId xmlns:p14="http://schemas.microsoft.com/office/powerpoint/2010/main" val="199939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2279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암호란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?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안전한 통신을 위한 암호체계</a:t>
            </a:r>
            <a:endParaRPr lang="en-US" altLang="ko-KR" dirty="0"/>
          </a:p>
          <a:p>
            <a:r>
              <a:rPr lang="ko-KR" altLang="ko-KR" dirty="0"/>
              <a:t>1984년 C. H. Benett과 G. Brassard가 제안</a:t>
            </a:r>
            <a:endParaRPr lang="en-US" altLang="ko-KR" dirty="0"/>
          </a:p>
          <a:p>
            <a:r>
              <a:rPr lang="ko-KR" altLang="ko-KR" dirty="0"/>
              <a:t>기존의 암호체계가 대부분 수학적 복잡성에 기반하는데 비해, 자연현상에 기반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ko-KR" dirty="0"/>
              <a:t>중간에 도청자가 난입할 경우 그 존재가 드러나며, 신호가 왜곡되어 </a:t>
            </a:r>
            <a:r>
              <a:rPr lang="ko-KR" altLang="ko-KR" dirty="0" err="1"/>
              <a:t>도청자도</a:t>
            </a:r>
            <a:r>
              <a:rPr lang="ko-KR" altLang="ko-KR" dirty="0"/>
              <a:t> 정확한 정보를 얻을 수 없는 </a:t>
            </a:r>
            <a:r>
              <a:rPr lang="ko-KR" altLang="ko-KR" dirty="0" err="1"/>
              <a:t>보안성</a:t>
            </a:r>
            <a:r>
              <a:rPr lang="ko-KR" altLang="en-US" dirty="0" err="1"/>
              <a:t>을</a:t>
            </a:r>
            <a:r>
              <a:rPr lang="ko-KR" altLang="en-US" dirty="0"/>
              <a:t> 가짐</a:t>
            </a:r>
            <a:endParaRPr lang="en-US" altLang="ko-KR" dirty="0"/>
          </a:p>
          <a:p>
            <a:r>
              <a:rPr lang="ko-KR" altLang="ko-KR" dirty="0"/>
              <a:t>다른</a:t>
            </a:r>
            <a:r>
              <a:rPr lang="en-US" altLang="ko-KR" dirty="0"/>
              <a:t> </a:t>
            </a:r>
            <a:r>
              <a:rPr lang="ko-KR" altLang="ko-KR" dirty="0"/>
              <a:t>말로 </a:t>
            </a:r>
            <a:r>
              <a:rPr lang="ko-KR" altLang="ko-KR" b="1" dirty="0"/>
              <a:t>양자 </a:t>
            </a:r>
            <a:r>
              <a:rPr lang="ko-KR" altLang="ko-KR" b="1"/>
              <a:t>키 분배</a:t>
            </a:r>
            <a:r>
              <a:rPr lang="ko-KR" altLang="ko-KR"/>
              <a:t>체계라고도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297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필요성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세상에 존재하는 모든 도청 방법에서 자유로운 완벽한 비밀을 보장해주는 방법은 없을까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도청하려는 사람이 인간이 할 수 있는 모든 기술을 동원하리라는 전제하에 자연 법칙 그 자체가 안전을 보장해줌을 의미함</a:t>
            </a:r>
            <a:endParaRPr lang="en-US" altLang="ko-KR" dirty="0"/>
          </a:p>
          <a:p>
            <a:r>
              <a:rPr lang="ko-KR" altLang="en-US" dirty="0"/>
              <a:t>누군가 정보를 얻기 위해서는 전달되는 신호를 측정해야 하는데 양자역학에서는 측정 자체가 원래 신호의 상태를 변형시켜버림</a:t>
            </a:r>
          </a:p>
          <a:p>
            <a:pPr lvl="1"/>
            <a:r>
              <a:rPr lang="ko-KR" altLang="en-US" dirty="0"/>
              <a:t>그에 따라 빛의 양자역학적 특성을 이용한 양자 암호화 방법이 제안됨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6522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양자정보통신의 탄생과 발전 역사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(1/2)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1970-1980</a:t>
            </a:r>
            <a:r>
              <a:rPr lang="ko-KR" altLang="en-US" dirty="0"/>
              <a:t>년대</a:t>
            </a:r>
            <a:r>
              <a:rPr lang="en-US" altLang="ko-KR" dirty="0"/>
              <a:t>,</a:t>
            </a:r>
            <a:r>
              <a:rPr lang="ko-KR" altLang="en-US" dirty="0"/>
              <a:t> 정보신호가 광자 혹은 원자 수준으로 처리되어 정보와 </a:t>
            </a:r>
            <a:r>
              <a:rPr lang="ko-KR" altLang="en-US"/>
              <a:t>물리현상은 이제 </a:t>
            </a:r>
            <a:r>
              <a:rPr lang="ko-KR" altLang="en-US" dirty="0"/>
              <a:t>독립이 아니라 상호작용을 일으키는 것으로 해명됨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ko-KR" altLang="en-US" dirty="0"/>
              <a:t>마이크로 세계에서 정보처리기능을 효율적으로 설계하기 위해서는 양자역학에 근거한 정보이론의 구축이 필수불가결한 것으로 이해됨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6522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양자정보통신의 탄생과 발전 역사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(2/2)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1980-1995</a:t>
            </a:r>
            <a:r>
              <a:rPr lang="ko-KR" altLang="en-US" dirty="0"/>
              <a:t>년대</a:t>
            </a:r>
            <a:r>
              <a:rPr lang="en-US" altLang="ko-KR" dirty="0"/>
              <a:t>, </a:t>
            </a:r>
            <a:r>
              <a:rPr lang="ko-KR" altLang="en-US" dirty="0"/>
              <a:t>영국</a:t>
            </a:r>
            <a:r>
              <a:rPr lang="en-US" altLang="ko-KR" dirty="0"/>
              <a:t>, </a:t>
            </a:r>
            <a:r>
              <a:rPr lang="ko-KR" altLang="en-US" dirty="0"/>
              <a:t>미국 및 일본의 </a:t>
            </a:r>
            <a:r>
              <a:rPr lang="ko-KR" altLang="en-US" dirty="0" err="1"/>
              <a:t>연구자등에</a:t>
            </a:r>
            <a:r>
              <a:rPr lang="ko-KR" altLang="en-US" dirty="0"/>
              <a:t> 의해 양자암호</a:t>
            </a:r>
            <a:r>
              <a:rPr lang="en-US" altLang="ko-KR" dirty="0"/>
              <a:t>, </a:t>
            </a:r>
            <a:r>
              <a:rPr lang="ko-KR" altLang="en-US" dirty="0"/>
              <a:t>양자통신</a:t>
            </a:r>
            <a:r>
              <a:rPr lang="en-US" altLang="ko-KR" dirty="0"/>
              <a:t>, </a:t>
            </a:r>
            <a:r>
              <a:rPr lang="ko-KR" altLang="en-US" dirty="0" err="1"/>
              <a:t>양자텔레포테이션</a:t>
            </a:r>
            <a:r>
              <a:rPr lang="ko-KR" altLang="en-US" dirty="0"/>
              <a:t> 및 양자컴퓨터에 관한 통칭 </a:t>
            </a:r>
            <a:r>
              <a:rPr lang="en-US" altLang="ko-KR" dirty="0"/>
              <a:t>‘</a:t>
            </a:r>
            <a:r>
              <a:rPr lang="ko-KR" altLang="en-US" dirty="0"/>
              <a:t>양자정보 통신기술</a:t>
            </a:r>
            <a:r>
              <a:rPr lang="en-US" altLang="ko-KR" dirty="0"/>
              <a:t>’</a:t>
            </a:r>
            <a:r>
              <a:rPr lang="ko-KR" altLang="en-US" dirty="0"/>
              <a:t>이라는 새로운 방식이 제안됨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용어 정리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광자 </a:t>
            </a:r>
            <a:r>
              <a:rPr lang="en-US" altLang="ko-KR" dirty="0"/>
              <a:t>: </a:t>
            </a:r>
            <a:r>
              <a:rPr lang="ko-KR" altLang="en-US" dirty="0"/>
              <a:t>빛의 가장 작은 에너지단위</a:t>
            </a:r>
          </a:p>
          <a:p>
            <a:r>
              <a:rPr lang="ko-KR" altLang="en-US" dirty="0"/>
              <a:t>편광 </a:t>
            </a:r>
            <a:r>
              <a:rPr lang="en-US" altLang="ko-KR" dirty="0"/>
              <a:t>: </a:t>
            </a:r>
            <a:r>
              <a:rPr lang="ko-KR" altLang="en-US" dirty="0"/>
              <a:t>광자의 진동방향</a:t>
            </a:r>
          </a:p>
          <a:p>
            <a:r>
              <a:rPr lang="ko-KR" altLang="en-US" dirty="0"/>
              <a:t>불확정성의 원리 </a:t>
            </a:r>
            <a:r>
              <a:rPr lang="en-US" altLang="ko-KR" dirty="0"/>
              <a:t>: </a:t>
            </a:r>
            <a:r>
              <a:rPr lang="ko-KR" altLang="en-US" dirty="0"/>
              <a:t>어떠한 </a:t>
            </a:r>
            <a:r>
              <a:rPr lang="en-US" altLang="ko-KR" dirty="0"/>
              <a:t>'</a:t>
            </a:r>
            <a:r>
              <a:rPr lang="ko-KR" altLang="en-US" dirty="0"/>
              <a:t>관측</a:t>
            </a:r>
            <a:r>
              <a:rPr lang="en-US" altLang="ko-KR" dirty="0"/>
              <a:t>'</a:t>
            </a:r>
            <a:r>
              <a:rPr lang="ko-KR" altLang="en-US" dirty="0"/>
              <a:t>을 할 때</a:t>
            </a:r>
            <a:r>
              <a:rPr lang="en-US" altLang="ko-KR" dirty="0"/>
              <a:t>, </a:t>
            </a:r>
            <a:r>
              <a:rPr lang="ko-KR" altLang="en-US" dirty="0"/>
              <a:t>그러니까 다른 어떤 것과 상호작용을 하면서 </a:t>
            </a:r>
            <a:r>
              <a:rPr lang="ko-KR" altLang="en-US" dirty="0" err="1"/>
              <a:t>물리량</a:t>
            </a:r>
            <a:r>
              <a:rPr lang="ko-KR" altLang="en-US" dirty="0"/>
              <a:t> 중 하나가 직접 관여하게 될 때</a:t>
            </a:r>
            <a:r>
              <a:rPr lang="en-US" altLang="ko-KR" dirty="0"/>
              <a:t>, </a:t>
            </a:r>
            <a:r>
              <a:rPr lang="ko-KR" altLang="en-US" dirty="0"/>
              <a:t>심지어 에너지가 전혀 들지 않는 관측</a:t>
            </a:r>
            <a:r>
              <a:rPr lang="en-US" altLang="ko-KR" dirty="0"/>
              <a:t>(</a:t>
            </a:r>
            <a:r>
              <a:rPr lang="ko-KR" altLang="en-US" dirty="0"/>
              <a:t>물리적으로 불가능하지만</a:t>
            </a:r>
            <a:r>
              <a:rPr lang="en-US" altLang="ko-KR" dirty="0"/>
              <a:t>)</a:t>
            </a:r>
            <a:r>
              <a:rPr lang="ko-KR" altLang="en-US" dirty="0"/>
              <a:t>을 하더라도 불확정성은 존재함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69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양자역학의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3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가지 성질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양자정보통신기술은 주로 양자역학에 있어서 아래와 같은 세가지 기본적 성질을 이용함으로써 실현됨</a:t>
            </a:r>
            <a:endParaRPr lang="en-US" altLang="ko-KR" dirty="0"/>
          </a:p>
          <a:p>
            <a:pPr lvl="1"/>
            <a:r>
              <a:rPr lang="ko-KR" altLang="en-US" dirty="0"/>
              <a:t>양자중첩</a:t>
            </a:r>
            <a:endParaRPr lang="en-US" altLang="ko-KR" dirty="0"/>
          </a:p>
          <a:p>
            <a:pPr lvl="1"/>
            <a:r>
              <a:rPr lang="ko-KR" altLang="en-US" dirty="0"/>
              <a:t>관측에 의한 </a:t>
            </a:r>
            <a:r>
              <a:rPr lang="ko-KR" altLang="en-US" dirty="0" err="1"/>
              <a:t>사영</a:t>
            </a:r>
            <a:endParaRPr lang="en-US" altLang="ko-KR" dirty="0"/>
          </a:p>
          <a:p>
            <a:pPr lvl="1"/>
            <a:r>
              <a:rPr lang="ko-KR" altLang="en-US" dirty="0" err="1"/>
              <a:t>양자얽힘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5727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큐비트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</a:t>
            </a:r>
            <a:r>
              <a:rPr lang="en-US" altLang="ko-KR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Qubit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=Quantum Bit) (1/2)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보통 양자정보의 단위인 </a:t>
            </a:r>
            <a:r>
              <a:rPr lang="ko-KR" altLang="en-US" dirty="0" err="1"/>
              <a:t>큐비트는</a:t>
            </a:r>
            <a:r>
              <a:rPr lang="ko-KR" altLang="en-US" dirty="0"/>
              <a:t> 서로 완전히 구별되는 </a:t>
            </a:r>
            <a:r>
              <a:rPr lang="ko-KR" altLang="en-US" dirty="0" err="1"/>
              <a:t>두양자</a:t>
            </a:r>
            <a:r>
              <a:rPr lang="ko-KR" altLang="en-US" dirty="0"/>
              <a:t> 상태 </a:t>
            </a:r>
            <a:r>
              <a:rPr lang="en-US" altLang="ko-KR" dirty="0"/>
              <a:t>|0〉</a:t>
            </a:r>
            <a:r>
              <a:rPr lang="ko-KR" altLang="en-US" dirty="0"/>
              <a:t>과 </a:t>
            </a:r>
            <a:r>
              <a:rPr lang="en-US" altLang="ko-KR" dirty="0"/>
              <a:t>|1〉</a:t>
            </a:r>
            <a:r>
              <a:rPr lang="ko-KR" altLang="en-US" dirty="0"/>
              <a:t>의 선형중첩으로 나타냄</a:t>
            </a:r>
            <a:endParaRPr lang="en-US" altLang="ko-KR" dirty="0"/>
          </a:p>
          <a:p>
            <a:pPr lvl="1"/>
            <a:r>
              <a:rPr lang="el-GR" altLang="ko-KR" dirty="0"/>
              <a:t>|ψ〉=α|0〉+β|1〉</a:t>
            </a:r>
          </a:p>
          <a:p>
            <a:r>
              <a:rPr lang="ko-KR" altLang="en-US" dirty="0"/>
              <a:t>두 기본 양자상태 </a:t>
            </a:r>
            <a:r>
              <a:rPr lang="en-US" altLang="ko-KR" dirty="0"/>
              <a:t>|0〉</a:t>
            </a:r>
            <a:r>
              <a:rPr lang="ko-KR" altLang="en-US" dirty="0"/>
              <a:t>과 </a:t>
            </a:r>
            <a:r>
              <a:rPr lang="en-US" altLang="ko-KR" dirty="0"/>
              <a:t>|1〉</a:t>
            </a:r>
            <a:r>
              <a:rPr lang="ko-KR" altLang="en-US" dirty="0"/>
              <a:t>은 서로 완전히 구별되는 </a:t>
            </a:r>
            <a:r>
              <a:rPr lang="en-US" altLang="ko-KR" dirty="0"/>
              <a:t>-- </a:t>
            </a:r>
            <a:r>
              <a:rPr lang="ko-KR" altLang="en-US" dirty="0"/>
              <a:t>내적이 </a:t>
            </a:r>
            <a:r>
              <a:rPr lang="en-US" altLang="ko-KR" dirty="0"/>
              <a:t>0</a:t>
            </a:r>
            <a:r>
              <a:rPr lang="ko-KR" altLang="en-US" dirty="0"/>
              <a:t>이 되는 </a:t>
            </a:r>
            <a:r>
              <a:rPr lang="en-US" altLang="ko-KR" dirty="0"/>
              <a:t>-- </a:t>
            </a:r>
            <a:r>
              <a:rPr lang="ko-KR" altLang="en-US" dirty="0"/>
              <a:t>양자 상태면 됨</a:t>
            </a:r>
          </a:p>
          <a:p>
            <a:r>
              <a:rPr lang="en-US" altLang="ko-KR" dirty="0"/>
              <a:t>|0〉</a:t>
            </a:r>
            <a:r>
              <a:rPr lang="ko-KR" altLang="en-US" dirty="0"/>
              <a:t>과 </a:t>
            </a:r>
            <a:r>
              <a:rPr lang="en-US" altLang="ko-KR" dirty="0"/>
              <a:t>|1〉</a:t>
            </a:r>
            <a:r>
              <a:rPr lang="ko-KR" altLang="en-US" dirty="0"/>
              <a:t>은 규격화 조건을 만족하고</a:t>
            </a:r>
            <a:r>
              <a:rPr lang="en-US" altLang="ko-KR" dirty="0"/>
              <a:t>, α</a:t>
            </a:r>
            <a:r>
              <a:rPr lang="ko-KR" altLang="en-US" dirty="0"/>
              <a:t>와 </a:t>
            </a:r>
            <a:r>
              <a:rPr lang="en-US" altLang="ko-KR" dirty="0"/>
              <a:t>β</a:t>
            </a:r>
            <a:r>
              <a:rPr lang="ko-KR" altLang="en-US" dirty="0"/>
              <a:t>도 </a:t>
            </a:r>
            <a:r>
              <a:rPr lang="en-US" altLang="ko-KR" dirty="0"/>
              <a:t>|ψ〉</a:t>
            </a:r>
            <a:r>
              <a:rPr lang="ko-KR" altLang="en-US" dirty="0"/>
              <a:t>의 양자확률의 합이 </a:t>
            </a:r>
            <a:r>
              <a:rPr lang="en-US" altLang="ko-KR" dirty="0"/>
              <a:t>1 </a:t>
            </a:r>
            <a:r>
              <a:rPr lang="ko-KR" altLang="en-US" dirty="0"/>
              <a:t>이 되도록 규격화 조건을 만족하는 복소수임</a:t>
            </a:r>
            <a:endParaRPr lang="en-US" altLang="ko-KR" dirty="0"/>
          </a:p>
          <a:p>
            <a:pPr lvl="1"/>
            <a:r>
              <a:rPr lang="el-GR" altLang="ko-KR" dirty="0"/>
              <a:t>|α|</a:t>
            </a:r>
            <a:r>
              <a:rPr lang="el-GR" altLang="ko-KR" baseline="30000" dirty="0"/>
              <a:t>2 </a:t>
            </a:r>
            <a:r>
              <a:rPr lang="el-GR" altLang="ko-KR" dirty="0"/>
              <a:t>+ |β|</a:t>
            </a:r>
            <a:r>
              <a:rPr lang="el-GR" altLang="ko-KR" baseline="30000" dirty="0"/>
              <a:t>2 </a:t>
            </a:r>
            <a:r>
              <a:rPr lang="el-GR" altLang="ko-KR" dirty="0"/>
              <a:t>= 1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5727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큐비트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</a:t>
            </a:r>
            <a:r>
              <a:rPr lang="en-US" altLang="ko-KR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Qubit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=Quantum Bit) (2/2)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α</a:t>
            </a:r>
            <a:r>
              <a:rPr lang="ko-KR" altLang="en-US" dirty="0"/>
              <a:t>와</a:t>
            </a:r>
            <a:r>
              <a:rPr lang="en-US" altLang="ko-KR" dirty="0"/>
              <a:t>β</a:t>
            </a:r>
            <a:r>
              <a:rPr lang="ko-KR" altLang="en-US" dirty="0"/>
              <a:t>가 복소수지만</a:t>
            </a:r>
            <a:r>
              <a:rPr lang="en-US" altLang="ko-KR" dirty="0"/>
              <a:t>, </a:t>
            </a:r>
            <a:r>
              <a:rPr lang="ko-KR" altLang="en-US" dirty="0"/>
              <a:t>양자정보가 측정될 때 가용정보가 실현되므로 무한하지는 않음</a:t>
            </a:r>
          </a:p>
          <a:p>
            <a:r>
              <a:rPr lang="en-US" altLang="ko-KR" i="1" dirty="0"/>
              <a:t>n</a:t>
            </a:r>
            <a:r>
              <a:rPr lang="ko-KR" altLang="en-US" dirty="0"/>
              <a:t>개의 </a:t>
            </a:r>
            <a:r>
              <a:rPr lang="ko-KR" altLang="en-US" dirty="0" err="1"/>
              <a:t>큐비트는</a:t>
            </a:r>
            <a:r>
              <a:rPr lang="ko-KR" altLang="en-US" dirty="0"/>
              <a:t> </a:t>
            </a:r>
            <a:r>
              <a:rPr lang="en-US" altLang="ko-KR" dirty="0"/>
              <a:t>|00...0〉≡|0〉|0〉...|0〉</a:t>
            </a:r>
            <a:r>
              <a:rPr lang="ko-KR" altLang="en-US" dirty="0"/>
              <a:t>부터</a:t>
            </a:r>
            <a:r>
              <a:rPr lang="en-US" altLang="ko-KR" dirty="0"/>
              <a:t>|11...1〉</a:t>
            </a:r>
            <a:r>
              <a:rPr lang="ko-KR" altLang="en-US" dirty="0"/>
              <a:t>까지</a:t>
            </a:r>
            <a:r>
              <a:rPr lang="en-US" altLang="ko-KR" dirty="0"/>
              <a:t>2</a:t>
            </a:r>
            <a:r>
              <a:rPr lang="en-US" altLang="ko-KR" i="1" baseline="30000" dirty="0"/>
              <a:t>n </a:t>
            </a:r>
            <a:r>
              <a:rPr lang="ko-KR" altLang="en-US" dirty="0"/>
              <a:t>개의 기본양자상태들의 중첩을 한꺼번에 나타낼 수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양자중첩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양자정보통신에 있어서의 정보</a:t>
            </a:r>
            <a:r>
              <a:rPr lang="en-US" altLang="ko-KR" dirty="0"/>
              <a:t>(</a:t>
            </a:r>
            <a:r>
              <a:rPr lang="ko-KR" altLang="en-US" dirty="0"/>
              <a:t>양자정보</a:t>
            </a:r>
            <a:r>
              <a:rPr lang="en-US" altLang="ko-KR" dirty="0"/>
              <a:t>)</a:t>
            </a:r>
            <a:r>
              <a:rPr lang="ko-KR" altLang="en-US" dirty="0"/>
              <a:t>의 기본단위인 </a:t>
            </a:r>
            <a:r>
              <a:rPr lang="en-US" altLang="ko-KR" dirty="0"/>
              <a:t>‘</a:t>
            </a:r>
            <a:r>
              <a:rPr lang="en-US" altLang="ko-KR" dirty="0" err="1"/>
              <a:t>Qubit</a:t>
            </a:r>
            <a:r>
              <a:rPr lang="en-US" altLang="ko-KR" dirty="0"/>
              <a:t>’</a:t>
            </a:r>
            <a:r>
              <a:rPr lang="ko-KR" altLang="en-US" dirty="0"/>
              <a:t>가 동시에 </a:t>
            </a:r>
            <a:r>
              <a:rPr lang="en-US" altLang="ko-KR" dirty="0"/>
              <a:t>0</a:t>
            </a:r>
            <a:r>
              <a:rPr lang="ko-KR" altLang="en-US" dirty="0"/>
              <a:t>와 </a:t>
            </a:r>
            <a:r>
              <a:rPr lang="en-US" altLang="ko-KR" dirty="0"/>
              <a:t>1</a:t>
            </a:r>
            <a:r>
              <a:rPr lang="ko-KR" altLang="en-US" dirty="0"/>
              <a:t>의 양쪽 값을 가질 수 있는 성질을 말함</a:t>
            </a:r>
            <a:endParaRPr lang="en-US" altLang="ko-KR" dirty="0"/>
          </a:p>
          <a:p>
            <a:r>
              <a:rPr lang="ko-KR" altLang="en-US" dirty="0"/>
              <a:t>이 성질을 이용하면</a:t>
            </a:r>
            <a:r>
              <a:rPr lang="en-US" altLang="ko-KR" dirty="0"/>
              <a:t>, </a:t>
            </a:r>
            <a:r>
              <a:rPr lang="ko-KR" altLang="en-US" dirty="0"/>
              <a:t>한번의 데이터 입력만으로 </a:t>
            </a:r>
            <a:r>
              <a:rPr lang="en-US" altLang="ko-KR" dirty="0"/>
              <a:t>2n</a:t>
            </a:r>
            <a:r>
              <a:rPr lang="ko-KR" altLang="en-US" dirty="0"/>
              <a:t>개의 계산을 동시에 할 수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293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관측에 의한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사영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양자중첩 상태에 있는 </a:t>
            </a:r>
            <a:r>
              <a:rPr lang="en-US" altLang="ko-KR" dirty="0" err="1"/>
              <a:t>Qubit</a:t>
            </a:r>
            <a:r>
              <a:rPr lang="ko-KR" altLang="en-US" dirty="0"/>
              <a:t>를 한번이라도 관측하면</a:t>
            </a:r>
            <a:r>
              <a:rPr lang="en-US" altLang="ko-KR" dirty="0"/>
              <a:t>, 0</a:t>
            </a:r>
            <a:r>
              <a:rPr lang="ko-KR" altLang="en-US" dirty="0"/>
              <a:t>와 </a:t>
            </a:r>
            <a:r>
              <a:rPr lang="en-US" altLang="ko-KR" dirty="0"/>
              <a:t>1</a:t>
            </a:r>
            <a:r>
              <a:rPr lang="ko-KR" altLang="en-US" dirty="0"/>
              <a:t>의 양쪽의 값을 동시에 갖고 있던 상태가</a:t>
            </a:r>
            <a:r>
              <a:rPr lang="en-US" altLang="ko-KR" dirty="0"/>
              <a:t> 0</a:t>
            </a:r>
            <a:r>
              <a:rPr lang="ko-KR" altLang="en-US" dirty="0"/>
              <a:t>이나 </a:t>
            </a:r>
            <a:r>
              <a:rPr lang="en-US" altLang="ko-KR" dirty="0"/>
              <a:t>1</a:t>
            </a:r>
            <a:r>
              <a:rPr lang="ko-KR" altLang="en-US" dirty="0"/>
              <a:t>의 어느쪽엔가로 결정되어 버리는 성질</a:t>
            </a:r>
            <a:endParaRPr lang="en-US" altLang="ko-KR" dirty="0"/>
          </a:p>
          <a:p>
            <a:r>
              <a:rPr lang="ko-KR" altLang="en-US" dirty="0"/>
              <a:t>이 성질을 이용하면</a:t>
            </a:r>
            <a:r>
              <a:rPr lang="en-US" altLang="ko-KR" dirty="0"/>
              <a:t>, </a:t>
            </a:r>
            <a:r>
              <a:rPr lang="en-US" altLang="ko-KR" dirty="0" err="1"/>
              <a:t>Qubit</a:t>
            </a:r>
            <a:r>
              <a:rPr lang="ko-KR" altLang="en-US" dirty="0"/>
              <a:t>의 상태변화의 유무에 의해</a:t>
            </a:r>
            <a:r>
              <a:rPr lang="en-US" altLang="ko-KR" dirty="0"/>
              <a:t> </a:t>
            </a:r>
            <a:r>
              <a:rPr lang="ko-KR" altLang="en-US" dirty="0"/>
              <a:t>통신도중 도청</a:t>
            </a:r>
            <a:r>
              <a:rPr lang="en-US" altLang="ko-KR" dirty="0"/>
              <a:t>(</a:t>
            </a:r>
            <a:r>
              <a:rPr lang="ko-KR" altLang="en-US" dirty="0"/>
              <a:t>관측</a:t>
            </a:r>
            <a:r>
              <a:rPr lang="en-US" altLang="ko-KR" dirty="0"/>
              <a:t>)</a:t>
            </a:r>
            <a:r>
              <a:rPr lang="ko-KR" altLang="en-US" dirty="0"/>
              <a:t>된지 여부의 판정이 가능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얽힘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 이상의 </a:t>
            </a:r>
            <a:r>
              <a:rPr lang="en-US" altLang="ko-KR" dirty="0" err="1"/>
              <a:t>Qubit</a:t>
            </a:r>
            <a:r>
              <a:rPr lang="ko-KR" altLang="en-US" dirty="0"/>
              <a:t>가 공간적으로 멀리 떨어져있어도 존재할 수 있는 성질</a:t>
            </a:r>
            <a:endParaRPr lang="en-US" altLang="ko-KR" dirty="0"/>
          </a:p>
          <a:p>
            <a:r>
              <a:rPr lang="ko-KR" altLang="en-US" dirty="0"/>
              <a:t>중첩된 두 </a:t>
            </a:r>
            <a:r>
              <a:rPr lang="ko-KR" altLang="en-US" dirty="0" err="1"/>
              <a:t>큐비트의</a:t>
            </a:r>
            <a:r>
              <a:rPr lang="ko-KR" altLang="en-US" dirty="0"/>
              <a:t> 일반적인 상태는 곱으로 나타낼 수 없으며 이 경우를 </a:t>
            </a:r>
            <a:r>
              <a:rPr lang="en-US" altLang="ko-KR" dirty="0"/>
              <a:t>‘</a:t>
            </a:r>
            <a:r>
              <a:rPr lang="ko-KR" altLang="en-US" dirty="0"/>
              <a:t>얽힌 상태</a:t>
            </a:r>
            <a:r>
              <a:rPr lang="en-US" altLang="ko-KR" dirty="0"/>
              <a:t>’</a:t>
            </a:r>
            <a:r>
              <a:rPr lang="ko-KR" altLang="en-US" dirty="0"/>
              <a:t>라고 하고</a:t>
            </a:r>
            <a:r>
              <a:rPr lang="en-US" altLang="ko-KR" dirty="0"/>
              <a:t>, </a:t>
            </a:r>
            <a:r>
              <a:rPr lang="ko-KR" altLang="en-US" dirty="0"/>
              <a:t>곱으로 나타낼 수 있는 극히 예외적인 경우를 </a:t>
            </a:r>
            <a:r>
              <a:rPr lang="en-US" altLang="ko-KR" dirty="0"/>
              <a:t>‘</a:t>
            </a:r>
            <a:r>
              <a:rPr lang="ko-KR" altLang="en-US" dirty="0" err="1"/>
              <a:t>분리가능한</a:t>
            </a:r>
            <a:r>
              <a:rPr lang="ko-KR" altLang="en-US" dirty="0"/>
              <a:t> 상태</a:t>
            </a:r>
            <a:r>
              <a:rPr lang="en-US" altLang="ko-KR" dirty="0"/>
              <a:t>’</a:t>
            </a:r>
            <a:r>
              <a:rPr lang="ko-KR" altLang="en-US" dirty="0"/>
              <a:t>라고 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448652" y="2708920"/>
            <a:ext cx="422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/>
            <a:r>
              <a:rPr lang="en-US" altLang="ko-KR" sz="2800" b="1" dirty="0"/>
              <a:t>2. </a:t>
            </a:r>
            <a:r>
              <a:rPr lang="ko-KR" altLang="en-US" sz="2800" b="1" dirty="0"/>
              <a:t>양자 암호의 구현 과정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199939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원리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(1/5)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앨리스와</a:t>
            </a:r>
            <a:r>
              <a:rPr lang="ko-KR" altLang="en-US" dirty="0"/>
              <a:t> 밥</a:t>
            </a:r>
            <a:r>
              <a:rPr lang="en-US" altLang="ko-KR" dirty="0"/>
              <a:t>, </a:t>
            </a:r>
            <a:r>
              <a:rPr lang="ko-KR" altLang="en-US" dirty="0"/>
              <a:t>그리고 이브</a:t>
            </a:r>
            <a:endParaRPr lang="en-US" altLang="ko-KR" dirty="0"/>
          </a:p>
          <a:p>
            <a:pPr lvl="1"/>
            <a:r>
              <a:rPr lang="ko-KR" altLang="en-US" dirty="0" err="1"/>
              <a:t>앨리스가</a:t>
            </a:r>
            <a:r>
              <a:rPr lang="ko-KR" altLang="en-US" dirty="0"/>
              <a:t> 밥에게 일련의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으로 이루어진 암호화된 메시지를 보내려고 한다고 가정</a:t>
            </a:r>
            <a:endParaRPr lang="en-US" altLang="ko-KR" dirty="0"/>
          </a:p>
          <a:p>
            <a:pPr lvl="1"/>
            <a:r>
              <a:rPr lang="ko-KR" altLang="en-US" dirty="0"/>
              <a:t>그녀는 특정한 분극화를 가진 광자들을 전송함으로써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을 나타낼수 있고 두 가지 도식을 가지고 광자 분극화와 </a:t>
            </a:r>
            <a:r>
              <a:rPr lang="en-US" altLang="ko-KR" dirty="0"/>
              <a:t>1 </a:t>
            </a:r>
            <a:r>
              <a:rPr lang="ko-KR" altLang="en-US" dirty="0"/>
              <a:t>또는 </a:t>
            </a:r>
            <a:r>
              <a:rPr lang="en-US" altLang="ko-KR" dirty="0"/>
              <a:t>0</a:t>
            </a:r>
            <a:r>
              <a:rPr lang="ko-KR" altLang="en-US" dirty="0"/>
              <a:t>을 결합시킬수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원리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(2/5)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 err="1"/>
              <a:t>첫번째</a:t>
            </a:r>
            <a:r>
              <a:rPr lang="ko-KR" altLang="en-US" dirty="0"/>
              <a:t> 도식은 직선</a:t>
            </a:r>
            <a:r>
              <a:rPr lang="en-US" altLang="ko-KR" dirty="0"/>
              <a:t>(</a:t>
            </a:r>
            <a:r>
              <a:rPr lang="ko-KR" altLang="en-US" dirty="0"/>
              <a:t>십자</a:t>
            </a:r>
            <a:r>
              <a:rPr lang="en-US" altLang="ko-KR" dirty="0"/>
              <a:t>)</a:t>
            </a:r>
            <a:r>
              <a:rPr lang="ko-KR" altLang="en-US" dirty="0"/>
              <a:t> 도식 또는 </a:t>
            </a:r>
            <a:r>
              <a:rPr lang="en-US" altLang="ko-KR" dirty="0"/>
              <a:t>+</a:t>
            </a:r>
            <a:r>
              <a:rPr lang="ko-KR" altLang="en-US" dirty="0"/>
              <a:t>도식이라고 불리며↕</a:t>
            </a:r>
            <a:r>
              <a:rPr lang="ko-KR" altLang="en-US" dirty="0" err="1"/>
              <a:t>를</a:t>
            </a:r>
            <a:r>
              <a:rPr lang="ko-KR" altLang="en-US" dirty="0"/>
              <a:t> 보내 </a:t>
            </a:r>
            <a:r>
              <a:rPr lang="en-US" altLang="ko-KR" dirty="0"/>
              <a:t>1</a:t>
            </a:r>
            <a:r>
              <a:rPr lang="ko-KR" altLang="en-US" dirty="0"/>
              <a:t>을 나타내며 ↔을 보내 </a:t>
            </a:r>
            <a:r>
              <a:rPr lang="en-US" altLang="ko-KR" dirty="0"/>
              <a:t>0</a:t>
            </a:r>
            <a:r>
              <a:rPr lang="ko-KR" altLang="en-US" dirty="0"/>
              <a:t>을 나타냄</a:t>
            </a:r>
            <a:endParaRPr lang="en-US" altLang="ko-KR" dirty="0"/>
          </a:p>
          <a:p>
            <a:pPr lvl="1"/>
            <a:r>
              <a:rPr lang="ko-KR" altLang="en-US" dirty="0"/>
              <a:t>다른 도식은 대각선</a:t>
            </a:r>
            <a:r>
              <a:rPr lang="en-US" altLang="ko-KR" dirty="0"/>
              <a:t>(</a:t>
            </a:r>
            <a:r>
              <a:rPr lang="ko-KR" altLang="en-US" dirty="0"/>
              <a:t>대각</a:t>
            </a:r>
            <a:r>
              <a:rPr lang="en-US" altLang="ko-KR" dirty="0"/>
              <a:t>)</a:t>
            </a:r>
            <a:r>
              <a:rPr lang="ko-KR" altLang="en-US" dirty="0"/>
              <a:t> 도식 또는 </a:t>
            </a:r>
            <a:r>
              <a:rPr lang="en-US" altLang="ko-KR" dirty="0"/>
              <a:t>x </a:t>
            </a:r>
            <a:r>
              <a:rPr lang="ko-KR" altLang="en-US" dirty="0"/>
              <a:t>도식이라고 불리며 ↗을 보내 </a:t>
            </a:r>
            <a:r>
              <a:rPr lang="en-US" altLang="ko-KR" dirty="0"/>
              <a:t>1</a:t>
            </a:r>
            <a:r>
              <a:rPr lang="ko-KR" altLang="en-US" dirty="0"/>
              <a:t>을 나타내며 ↖을 보내 </a:t>
            </a:r>
            <a:r>
              <a:rPr lang="en-US" altLang="ko-KR" dirty="0"/>
              <a:t>0</a:t>
            </a:r>
            <a:r>
              <a:rPr lang="ko-KR" altLang="en-US" dirty="0"/>
              <a:t>을 나타냄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원리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(3/5)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이진법 메시지를 보내기 위해</a:t>
            </a:r>
            <a:r>
              <a:rPr lang="en-US" altLang="ko-KR" dirty="0"/>
              <a:t>, </a:t>
            </a:r>
            <a:r>
              <a:rPr lang="ko-KR" altLang="en-US" dirty="0" err="1"/>
              <a:t>앨리스는</a:t>
            </a:r>
            <a:r>
              <a:rPr lang="ko-KR" altLang="en-US" dirty="0"/>
              <a:t> 예측할 수 없는 방법으로 이 두 도식을 바꿔서 사용함</a:t>
            </a:r>
            <a:endParaRPr lang="en-US" altLang="ko-KR" dirty="0"/>
          </a:p>
          <a:p>
            <a:pPr lvl="1"/>
            <a:r>
              <a:rPr lang="ko-KR" altLang="en-US" dirty="0"/>
              <a:t>예를 들어 </a:t>
            </a:r>
            <a:r>
              <a:rPr lang="en-US" altLang="ko-KR" dirty="0"/>
              <a:t>1101101001</a:t>
            </a:r>
            <a:r>
              <a:rPr lang="ko-KR" altLang="en-US" dirty="0"/>
              <a:t>은 다음과 같이 변환됨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앨리스는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을 변환할 때 두 가지 방법 모두를 사용했지만</a:t>
            </a:r>
            <a:r>
              <a:rPr lang="en-US" altLang="ko-KR" dirty="0"/>
              <a:t>, </a:t>
            </a:r>
            <a:r>
              <a:rPr lang="ko-KR" altLang="en-US" dirty="0"/>
              <a:t>각각 다른 분극화로 </a:t>
            </a:r>
            <a:r>
              <a:rPr lang="en-US" altLang="ko-KR" dirty="0"/>
              <a:t>1</a:t>
            </a:r>
            <a:r>
              <a:rPr lang="ko-KR" altLang="en-US" dirty="0"/>
              <a:t>을 나타낸 것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 descr="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1640" y="3573016"/>
            <a:ext cx="6668431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원리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(4/5)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이브</a:t>
            </a:r>
            <a:r>
              <a:rPr lang="en-US" altLang="ko-KR" dirty="0"/>
              <a:t>(Eve)</a:t>
            </a:r>
            <a:r>
              <a:rPr lang="ko-KR" altLang="en-US" dirty="0"/>
              <a:t>가 이 메시지를 해독하고 싶다면 모든 광자의 분극화를 밝혀내야 함</a:t>
            </a:r>
            <a:endParaRPr lang="en-US" altLang="ko-KR" dirty="0"/>
          </a:p>
          <a:p>
            <a:pPr lvl="1"/>
            <a:r>
              <a:rPr lang="ko-KR" altLang="en-US" dirty="0"/>
              <a:t>모든 광자의 분극화를 측정하기 위해</a:t>
            </a:r>
            <a:r>
              <a:rPr lang="en-US" altLang="ko-KR" dirty="0"/>
              <a:t>, </a:t>
            </a:r>
            <a:r>
              <a:rPr lang="ko-KR" altLang="en-US" dirty="0"/>
              <a:t>이브는 폴라로이드 필터에 광자가 접근할 때마다 그 필터를 돌리는 방법을 결정해야 함</a:t>
            </a:r>
            <a:endParaRPr lang="en-US" altLang="ko-KR" dirty="0"/>
          </a:p>
          <a:p>
            <a:pPr lvl="1"/>
            <a:r>
              <a:rPr lang="ko-KR" altLang="en-US" dirty="0"/>
              <a:t>이브는 </a:t>
            </a:r>
            <a:r>
              <a:rPr lang="ko-KR" altLang="en-US" dirty="0" err="1"/>
              <a:t>앨리스가</a:t>
            </a:r>
            <a:r>
              <a:rPr lang="ko-KR" altLang="en-US" dirty="0"/>
              <a:t> 각각의 광자에 어떤 도식을 적용시켰는지 확실히 알 수 없으므로</a:t>
            </a:r>
            <a:r>
              <a:rPr lang="en-US" altLang="ko-KR" dirty="0"/>
              <a:t>, </a:t>
            </a:r>
            <a:r>
              <a:rPr lang="ko-KR" altLang="en-US" dirty="0"/>
              <a:t>임의로 필터의 방향을 선택할 것이고</a:t>
            </a:r>
            <a:r>
              <a:rPr lang="en-US" altLang="ko-KR" dirty="0"/>
              <a:t>, </a:t>
            </a:r>
            <a:r>
              <a:rPr lang="ko-KR" altLang="en-US" dirty="0"/>
              <a:t>절반은 틀릴 것</a:t>
            </a:r>
            <a:endParaRPr lang="en-US" altLang="ko-KR" dirty="0"/>
          </a:p>
          <a:p>
            <a:pPr lvl="1"/>
            <a:r>
              <a:rPr lang="ko-KR" altLang="en-US" dirty="0"/>
              <a:t>결국</a:t>
            </a:r>
            <a:r>
              <a:rPr lang="en-US" altLang="ko-KR" dirty="0"/>
              <a:t>, </a:t>
            </a:r>
            <a:r>
              <a:rPr lang="ko-KR" altLang="en-US" dirty="0"/>
              <a:t>변환을 완전히 파악하지 못할 것</a:t>
            </a:r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원리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(5/5)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앨리스와</a:t>
            </a:r>
            <a:r>
              <a:rPr lang="ko-KR" altLang="en-US" dirty="0"/>
              <a:t> 밥의 시스템의 특징과 직면한 문제</a:t>
            </a:r>
            <a:endParaRPr lang="en-US" altLang="ko-KR" dirty="0"/>
          </a:p>
          <a:p>
            <a:pPr lvl="1"/>
            <a:r>
              <a:rPr lang="ko-KR" altLang="en-US" dirty="0"/>
              <a:t>밥 역시 </a:t>
            </a:r>
            <a:r>
              <a:rPr lang="ko-KR" altLang="en-US" dirty="0" err="1"/>
              <a:t>앨리스가</a:t>
            </a:r>
            <a:r>
              <a:rPr lang="ko-KR" altLang="en-US" dirty="0"/>
              <a:t> 각각의 광자에 어떤 극화 도식을 사용했는지 알 수 있는 방법이 없음</a:t>
            </a:r>
          </a:p>
          <a:p>
            <a:pPr lvl="1"/>
            <a:r>
              <a:rPr lang="ko-KR" altLang="en-US" dirty="0"/>
              <a:t>이 문제에 대한 확실한 해결책은 </a:t>
            </a:r>
            <a:r>
              <a:rPr lang="ko-KR" altLang="en-US" dirty="0" err="1"/>
              <a:t>앨리스와</a:t>
            </a:r>
            <a:r>
              <a:rPr lang="ko-KR" altLang="en-US" dirty="0"/>
              <a:t> 밥이 각각의 광자에 어떤 분극화 도식을 사용할 것인지 미리 합의를 보는 것임</a:t>
            </a:r>
            <a:endParaRPr lang="en-US" altLang="ko-KR" dirty="0"/>
          </a:p>
          <a:p>
            <a:pPr lvl="1"/>
            <a:r>
              <a:rPr lang="ko-KR" altLang="en-US" dirty="0"/>
              <a:t>하지만 이런 경우 열쇠의 분배 문제라는 고질적인 상황에 직면하게 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과정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(1/5)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가지 준비 단계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가지 단계 모두 암호화된 메시지를 전송하는 것과는 관계없지만 메시지를 암호화 하는데 사용될 수 있는 열쇠</a:t>
            </a:r>
            <a:r>
              <a:rPr lang="en-US" altLang="ko-KR" dirty="0"/>
              <a:t>(</a:t>
            </a:r>
            <a:r>
              <a:rPr lang="ko-KR" altLang="en-US" dirty="0"/>
              <a:t>비밀키</a:t>
            </a:r>
            <a:r>
              <a:rPr lang="en-US" altLang="ko-KR" dirty="0"/>
              <a:t>)</a:t>
            </a:r>
            <a:r>
              <a:rPr lang="ko-KR" altLang="en-US" dirty="0"/>
              <a:t>를 안전하게 교환할 수 있도록 함</a:t>
            </a:r>
            <a:endParaRPr lang="en-US" altLang="ko-KR" dirty="0"/>
          </a:p>
          <a:p>
            <a:r>
              <a:rPr lang="ko-KR" altLang="en-US" dirty="0"/>
              <a:t>용어</a:t>
            </a:r>
            <a:endParaRPr lang="en-US" altLang="ko-KR" dirty="0"/>
          </a:p>
          <a:p>
            <a:pPr lvl="1"/>
            <a:r>
              <a:rPr lang="ko-KR" altLang="ko-KR" dirty="0"/>
              <a:t>광자 하나하나에 신호를 실어 보내서 통신하는 </a:t>
            </a:r>
            <a:r>
              <a:rPr lang="ko-KR" altLang="ko-KR" b="1" dirty="0"/>
              <a:t>양자채널</a:t>
            </a:r>
            <a:endParaRPr lang="en-US" altLang="ko-KR" dirty="0"/>
          </a:p>
          <a:p>
            <a:pPr lvl="1"/>
            <a:r>
              <a:rPr lang="ko-KR" altLang="ko-KR" dirty="0"/>
              <a:t>기존의 통신망</a:t>
            </a:r>
            <a:r>
              <a:rPr lang="en-US" altLang="ko-KR" dirty="0"/>
              <a:t>(</a:t>
            </a:r>
            <a:r>
              <a:rPr lang="ko-KR" altLang="en-US" dirty="0"/>
              <a:t>대부분 </a:t>
            </a:r>
            <a:r>
              <a:rPr lang="en-US" altLang="ko-KR" dirty="0"/>
              <a:t>TCP/IP </a:t>
            </a:r>
            <a:r>
              <a:rPr lang="ko-KR" altLang="en-US" dirty="0"/>
              <a:t>프로토콜</a:t>
            </a:r>
            <a:r>
              <a:rPr lang="en-US" altLang="ko-KR" dirty="0"/>
              <a:t>)</a:t>
            </a:r>
            <a:r>
              <a:rPr lang="ko-KR" altLang="ko-KR" dirty="0"/>
              <a:t>을 활용하는 </a:t>
            </a:r>
            <a:r>
              <a:rPr lang="ko-KR" altLang="ko-KR" b="1" dirty="0"/>
              <a:t>퍼블릭채널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과정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(2/5)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1"/>
            <a:r>
              <a:rPr lang="ko-KR" altLang="en-US" dirty="0" err="1"/>
              <a:t>앨리스는</a:t>
            </a:r>
            <a:r>
              <a:rPr lang="ko-KR" altLang="en-US" dirty="0"/>
              <a:t> 우선 임의로 선택한 직선과 대각선 분극화 도식을 사용하여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의 임의의 연속 하나를 전송함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 descr="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1640" y="3717032"/>
            <a:ext cx="5832648" cy="282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과정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(3/5)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1"/>
            <a:r>
              <a:rPr lang="ko-KR" altLang="en-US" dirty="0"/>
              <a:t>밥은 이 광자들의 분극화를 측정해야 함</a:t>
            </a:r>
            <a:endParaRPr lang="en-US" altLang="ko-KR" dirty="0"/>
          </a:p>
          <a:p>
            <a:pPr lvl="1"/>
            <a:r>
              <a:rPr lang="ko-KR" altLang="en-US" dirty="0" err="1"/>
              <a:t>앨리스가</a:t>
            </a:r>
            <a:r>
              <a:rPr lang="ko-KR" altLang="en-US" dirty="0"/>
              <a:t> 각각의 광자에 어떤 분극화 도식을 사용했는지 모르기 때문에 그의 </a:t>
            </a:r>
            <a:r>
              <a:rPr lang="en-US" altLang="ko-KR" dirty="0"/>
              <a:t>+</a:t>
            </a:r>
            <a:r>
              <a:rPr lang="ko-KR" altLang="en-US" dirty="0"/>
              <a:t>탐지기와 </a:t>
            </a:r>
            <a:r>
              <a:rPr lang="en-US" altLang="ko-KR"/>
              <a:t>x </a:t>
            </a:r>
            <a:r>
              <a:rPr lang="ko-KR" altLang="en-US" dirty="0"/>
              <a:t>탐지기를 임의로 맞바꾸어 사용</a:t>
            </a:r>
            <a:endParaRPr lang="en-US" altLang="ko-KR" dirty="0"/>
          </a:p>
          <a:p>
            <a:pPr lvl="1"/>
            <a:r>
              <a:rPr lang="ko-KR" altLang="en-US" dirty="0"/>
              <a:t>밥이 잘못 선택된 탐지기를 사용한다면</a:t>
            </a:r>
            <a:r>
              <a:rPr lang="en-US" altLang="ko-KR" dirty="0"/>
              <a:t>, </a:t>
            </a:r>
            <a:r>
              <a:rPr lang="ko-KR" altLang="en-US" dirty="0"/>
              <a:t>당연히 </a:t>
            </a:r>
            <a:r>
              <a:rPr lang="ko-KR" altLang="en-US" dirty="0" err="1"/>
              <a:t>앨리스의</a:t>
            </a:r>
            <a:r>
              <a:rPr lang="ko-KR" altLang="en-US" dirty="0"/>
              <a:t> 광자를 잘못 해석할 것임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과정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(4/5)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pic>
        <p:nvPicPr>
          <p:cNvPr id="6" name="내용 개체 틀 3" descr="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39752" y="1628800"/>
            <a:ext cx="4212563" cy="40124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5656" y="5949280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앨리스의</a:t>
            </a:r>
            <a:r>
              <a:rPr lang="ko-KR" altLang="en-US" dirty="0"/>
              <a:t> </a:t>
            </a:r>
            <a:r>
              <a:rPr lang="ko-KR" altLang="en-US" dirty="0" err="1"/>
              <a:t>전송비트를</a:t>
            </a:r>
            <a:r>
              <a:rPr lang="ko-KR" altLang="en-US" dirty="0"/>
              <a:t> 밥이 받을 수 있는 모든 가능성</a:t>
            </a:r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88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과정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(5/5)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1"/>
            <a:r>
              <a:rPr lang="ko-KR" altLang="en-US" dirty="0" err="1"/>
              <a:t>앨리스는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의 연속을 보내고</a:t>
            </a:r>
            <a:r>
              <a:rPr lang="en-US" altLang="ko-KR" dirty="0"/>
              <a:t>, </a:t>
            </a:r>
            <a:r>
              <a:rPr lang="ko-KR" altLang="en-US" dirty="0"/>
              <a:t>밥은 그 중 어떤 것들은 정확하게</a:t>
            </a:r>
            <a:r>
              <a:rPr lang="en-US" altLang="ko-KR" dirty="0"/>
              <a:t>, </a:t>
            </a:r>
            <a:r>
              <a:rPr lang="ko-KR" altLang="en-US" dirty="0"/>
              <a:t>다른 어떤 것들은 잘못 탐지함</a:t>
            </a:r>
            <a:endParaRPr lang="en-US" altLang="ko-KR" dirty="0"/>
          </a:p>
          <a:p>
            <a:pPr lvl="1"/>
            <a:r>
              <a:rPr lang="ko-KR" altLang="en-US" dirty="0" err="1"/>
              <a:t>앨리스는</a:t>
            </a:r>
            <a:r>
              <a:rPr lang="ko-KR" altLang="en-US" dirty="0"/>
              <a:t> 분명히 하기 위해 밥에게 자신이 각각의 광자에 사용한 분극화 도식을 말함</a:t>
            </a:r>
            <a:endParaRPr lang="en-US" altLang="ko-KR" dirty="0"/>
          </a:p>
          <a:p>
            <a:pPr lvl="1"/>
            <a:r>
              <a:rPr lang="ko-KR" altLang="en-US" dirty="0"/>
              <a:t>밥은 </a:t>
            </a:r>
            <a:r>
              <a:rPr lang="ko-KR" altLang="en-US" dirty="0" err="1"/>
              <a:t>앨리스에게</a:t>
            </a:r>
            <a:r>
              <a:rPr lang="ko-KR" altLang="en-US" dirty="0"/>
              <a:t> 그가 어떤 광자의 분극화 도식을 정확하게 맞추었는지 말함</a:t>
            </a:r>
            <a:endParaRPr lang="en-US" altLang="ko-KR" dirty="0"/>
          </a:p>
          <a:p>
            <a:pPr lvl="1"/>
            <a:r>
              <a:rPr lang="ko-KR" altLang="en-US" dirty="0" err="1"/>
              <a:t>앨리스와</a:t>
            </a:r>
            <a:r>
              <a:rPr lang="ko-KR" altLang="en-US" dirty="0"/>
              <a:t> 밥은 정확한 도식을 맞춘 광자에만 집중해서 </a:t>
            </a:r>
            <a:r>
              <a:rPr lang="ko-KR" altLang="en-US" dirty="0" err="1"/>
              <a:t>앨리스가</a:t>
            </a:r>
            <a:r>
              <a:rPr lang="ko-KR" altLang="en-US" dirty="0"/>
              <a:t> 보냈던 것보다 짧은 연속을 </a:t>
            </a:r>
            <a:r>
              <a:rPr lang="ko-KR" altLang="en-US" dirty="0" err="1"/>
              <a:t>만듬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424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안전성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(1/4)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이브는 왜 열쇠를 해독하지 못하는가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앨리스가</a:t>
            </a:r>
            <a:r>
              <a:rPr lang="ko-KR" altLang="en-US" dirty="0"/>
              <a:t> 분극화된 광자를 전송하면</a:t>
            </a:r>
            <a:r>
              <a:rPr lang="en-US" altLang="ko-KR" dirty="0"/>
              <a:t>, </a:t>
            </a:r>
            <a:r>
              <a:rPr lang="ko-KR" altLang="en-US" dirty="0"/>
              <a:t>이브는 그것을 측정하려는 시도를 함</a:t>
            </a:r>
            <a:endParaRPr lang="en-US" altLang="ko-KR" dirty="0"/>
          </a:p>
          <a:p>
            <a:pPr lvl="1"/>
            <a:r>
              <a:rPr lang="ko-KR" altLang="en-US" dirty="0"/>
              <a:t>그러나 이브는 </a:t>
            </a:r>
            <a:r>
              <a:rPr lang="en-US" altLang="ko-KR" dirty="0"/>
              <a:t>+</a:t>
            </a:r>
            <a:r>
              <a:rPr lang="ko-KR" altLang="en-US" dirty="0"/>
              <a:t>탐지기와 </a:t>
            </a:r>
            <a:r>
              <a:rPr lang="en-US" altLang="ko-KR" dirty="0"/>
              <a:t>x </a:t>
            </a:r>
            <a:r>
              <a:rPr lang="ko-KR" altLang="en-US" dirty="0"/>
              <a:t>탐지기중에서 어떤 것을 사용해야 하는지 모름</a:t>
            </a:r>
            <a:endParaRPr lang="en-US" altLang="ko-KR" dirty="0"/>
          </a:p>
          <a:p>
            <a:pPr lvl="1"/>
            <a:r>
              <a:rPr lang="ko-KR" altLang="en-US" dirty="0"/>
              <a:t>이브는 광자들의 절반을 부정확한 탐지기를 측정했을 것임</a:t>
            </a:r>
            <a:endParaRPr lang="en-US" altLang="ko-KR" dirty="0"/>
          </a:p>
          <a:p>
            <a:pPr lvl="1"/>
            <a:r>
              <a:rPr lang="ko-KR" altLang="en-US" dirty="0"/>
              <a:t>그리고 마지막 열쇠를 이루고 있는 광자들 중 일부를 잘못 해석할 것임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424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안전성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(2/4)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양자 암호의 장점</a:t>
            </a:r>
            <a:endParaRPr lang="en-US" altLang="ko-KR" dirty="0"/>
          </a:p>
          <a:p>
            <a:pPr lvl="1"/>
            <a:r>
              <a:rPr lang="ko-KR" altLang="en-US" dirty="0"/>
              <a:t>양자 암호 덕분에 </a:t>
            </a:r>
            <a:r>
              <a:rPr lang="ko-KR" altLang="en-US" dirty="0" err="1"/>
              <a:t>앨리스와</a:t>
            </a:r>
            <a:r>
              <a:rPr lang="ko-KR" altLang="en-US" dirty="0"/>
              <a:t> 밥은 한 개의 열쇠에 의견 일치를 볼 수 있고</a:t>
            </a:r>
            <a:r>
              <a:rPr lang="en-US" altLang="ko-KR" dirty="0"/>
              <a:t>, </a:t>
            </a:r>
            <a:r>
              <a:rPr lang="ko-KR" altLang="en-US" dirty="0"/>
              <a:t>이브는 이 열쇠를 가로채려 할 때마다 실수를 하게 됨</a:t>
            </a:r>
            <a:endParaRPr lang="en-US" altLang="ko-KR" dirty="0"/>
          </a:p>
          <a:p>
            <a:pPr lvl="1"/>
            <a:r>
              <a:rPr lang="ko-KR" altLang="en-US" dirty="0"/>
              <a:t>또한 </a:t>
            </a:r>
            <a:r>
              <a:rPr lang="ko-KR" altLang="en-US" dirty="0" err="1"/>
              <a:t>앨리스와</a:t>
            </a:r>
            <a:r>
              <a:rPr lang="ko-KR" altLang="en-US" dirty="0"/>
              <a:t> 밥은 이브가 도청하고 있다는 사실을 알 수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4192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안전성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(3/4)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앨리스와</a:t>
            </a:r>
            <a:r>
              <a:rPr lang="ko-KR" altLang="en-US" dirty="0"/>
              <a:t> 밥의 실수 확인 절차</a:t>
            </a:r>
          </a:p>
          <a:p>
            <a:pPr lvl="1"/>
            <a:r>
              <a:rPr lang="ko-KR" altLang="en-US" dirty="0"/>
              <a:t>서로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의 공통된 연속을 공유하게 됨</a:t>
            </a:r>
            <a:endParaRPr lang="en-US" altLang="ko-KR" dirty="0"/>
          </a:p>
          <a:p>
            <a:pPr lvl="1"/>
            <a:r>
              <a:rPr lang="ko-KR" altLang="en-US" dirty="0"/>
              <a:t>둘이서 </a:t>
            </a:r>
            <a:r>
              <a:rPr lang="en-US" altLang="ko-KR" dirty="0"/>
              <a:t>1,075</a:t>
            </a:r>
            <a:r>
              <a:rPr lang="ko-KR" altLang="en-US" dirty="0"/>
              <a:t>개의 긴 이진수로 이루어진 연속을 만들었다고 가정</a:t>
            </a:r>
          </a:p>
          <a:p>
            <a:pPr lvl="1"/>
            <a:r>
              <a:rPr lang="ko-KR" altLang="en-US" dirty="0" err="1"/>
              <a:t>앨리스는</a:t>
            </a:r>
            <a:r>
              <a:rPr lang="ko-KR" altLang="en-US" dirty="0"/>
              <a:t> 그 숫자들 중 </a:t>
            </a:r>
            <a:r>
              <a:rPr lang="en-US" altLang="ko-KR" dirty="0"/>
              <a:t>75</a:t>
            </a:r>
            <a:r>
              <a:rPr lang="ko-KR" altLang="en-US" dirty="0"/>
              <a:t>개만 임의로 뽑아서 확인하면 됨</a:t>
            </a:r>
            <a:endParaRPr lang="en-US" altLang="ko-KR" dirty="0"/>
          </a:p>
          <a:p>
            <a:pPr lvl="1"/>
            <a:r>
              <a:rPr lang="ko-KR" altLang="en-US" dirty="0"/>
              <a:t>밥이 그 </a:t>
            </a:r>
            <a:r>
              <a:rPr lang="en-US" altLang="ko-KR" dirty="0"/>
              <a:t>75</a:t>
            </a:r>
            <a:r>
              <a:rPr lang="ko-KR" altLang="en-US" dirty="0"/>
              <a:t>개의 숫자를 모두 정확하게 확인했다면</a:t>
            </a:r>
            <a:r>
              <a:rPr lang="en-US" altLang="ko-KR" dirty="0"/>
              <a:t>, </a:t>
            </a:r>
            <a:r>
              <a:rPr lang="ko-KR" altLang="en-US" dirty="0"/>
              <a:t>이브가 처음의 광자전송을 도청했을 가능성은 아주 적어짐 </a:t>
            </a:r>
            <a:r>
              <a:rPr lang="en-US" altLang="ko-KR" dirty="0"/>
              <a:t>(10</a:t>
            </a:r>
            <a:r>
              <a:rPr lang="ko-KR" altLang="en-US" dirty="0"/>
              <a:t>억 분의 </a:t>
            </a:r>
            <a:r>
              <a:rPr lang="en-US" altLang="ko-KR" dirty="0"/>
              <a:t>1)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424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양자 암호의 안전성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(4/4)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다른 한편으로</a:t>
            </a:r>
            <a:r>
              <a:rPr lang="en-US" altLang="ko-KR" dirty="0"/>
              <a:t>, 75</a:t>
            </a:r>
            <a:r>
              <a:rPr lang="ko-KR" altLang="en-US" dirty="0"/>
              <a:t>개의 숫자 중에 하나의 일치하지 않는 숫자를 발견하게 되면</a:t>
            </a:r>
            <a:r>
              <a:rPr lang="en-US" altLang="ko-KR" dirty="0"/>
              <a:t> </a:t>
            </a:r>
            <a:r>
              <a:rPr lang="ko-KR" altLang="en-US" dirty="0"/>
              <a:t>이브가 도청하고 있다는 사실을 알게 됨</a:t>
            </a:r>
            <a:endParaRPr lang="en-US" altLang="ko-KR" dirty="0"/>
          </a:p>
          <a:p>
            <a:pPr lvl="1"/>
            <a:r>
              <a:rPr lang="ko-KR" altLang="en-US" dirty="0"/>
              <a:t>그러면 </a:t>
            </a:r>
            <a:r>
              <a:rPr lang="en-US" altLang="ko-KR" dirty="0"/>
              <a:t>1</a:t>
            </a:r>
            <a:r>
              <a:rPr lang="ko-KR" altLang="en-US" dirty="0"/>
              <a:t>회용 패드 전체를 포기하고 새로운 채널로 옮겨서 처음부터 다시 시작하면 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691505" y="2708920"/>
            <a:ext cx="3740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/>
            <a:r>
              <a:rPr lang="en-US" altLang="ko-KR" sz="2800" b="1" dirty="0"/>
              <a:t>3. </a:t>
            </a:r>
            <a:r>
              <a:rPr lang="ko-KR" altLang="en-US" sz="2800" b="1" dirty="0"/>
              <a:t>양자 암호의 </a:t>
            </a:r>
            <a:r>
              <a:rPr lang="ko-KR" altLang="en-US" sz="2800" b="1" dirty="0" err="1"/>
              <a:t>보안성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1999392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수학적 파해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ko-KR" dirty="0"/>
              <a:t>사용되고 있는 대부분의 암호체계는 보통 수학적 복잡성에 기반을 두고 있고 가역적이기 때문에 언젠가는 문제가 풀리게 </a:t>
            </a:r>
            <a:r>
              <a:rPr lang="ko-KR" altLang="en-US" dirty="0"/>
              <a:t>됨</a:t>
            </a:r>
            <a:endParaRPr lang="en-US" altLang="ko-KR" dirty="0"/>
          </a:p>
          <a:p>
            <a:r>
              <a:rPr lang="ko-KR" altLang="ko-KR" dirty="0"/>
              <a:t>가장 강력한 암호체계</a:t>
            </a:r>
            <a:r>
              <a:rPr lang="en-US" altLang="ko-KR" dirty="0"/>
              <a:t> </a:t>
            </a:r>
            <a:r>
              <a:rPr lang="ko-KR" altLang="ko-KR" dirty="0"/>
              <a:t>중 하나로 불리는 RSA의 경우 문제풀이에 천문학적인 시간이 소요되므로 사용되고 있지만, 컴퓨터의 발전에 따른 처리시간의 단축으로 인해 단시간 안에 파해</a:t>
            </a:r>
            <a:r>
              <a:rPr lang="en-US" altLang="ko-KR" dirty="0"/>
              <a:t> </a:t>
            </a:r>
            <a:r>
              <a:rPr lang="ko-KR" altLang="ko-KR" dirty="0"/>
              <a:t>될 가능성이 있다는 의견이 </a:t>
            </a:r>
            <a:r>
              <a:rPr lang="ko-KR" altLang="en-US" dirty="0"/>
              <a:t>제시됨</a:t>
            </a:r>
            <a:endParaRPr lang="en-US" altLang="ko-KR" dirty="0"/>
          </a:p>
          <a:p>
            <a:r>
              <a:rPr lang="ko-KR" altLang="ko-KR" dirty="0"/>
              <a:t>반면 양자암호의 경우 수학적 복잡성이 아닌 비가역적인 물리학적 자연현상에 기반을 두고 있어서 앞선 다른 암호체계</a:t>
            </a:r>
            <a:r>
              <a:rPr lang="en-US" altLang="ko-KR" dirty="0"/>
              <a:t> </a:t>
            </a:r>
            <a:r>
              <a:rPr lang="ko-KR" altLang="ko-KR" dirty="0"/>
              <a:t>같은 수학적 접근이 불가능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8079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 가로채기 후 재전송으로부터의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(1/5)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ko-KR" dirty="0"/>
              <a:t>통신 프로토콜의 약점을 이용해 공격하는 방법</a:t>
            </a:r>
            <a:r>
              <a:rPr lang="en-US" altLang="ko-KR" dirty="0"/>
              <a:t> </a:t>
            </a:r>
            <a:r>
              <a:rPr lang="ko-KR" altLang="ko-KR" dirty="0"/>
              <a:t>중 대표적인 방</a:t>
            </a:r>
            <a:r>
              <a:rPr lang="ko-KR" altLang="en-US" dirty="0"/>
              <a:t>법</a:t>
            </a:r>
            <a:endParaRPr lang="en-US" altLang="ko-KR" dirty="0"/>
          </a:p>
          <a:p>
            <a:pPr lvl="1"/>
            <a:r>
              <a:rPr lang="ko-KR" altLang="ko-KR" dirty="0" err="1"/>
              <a:t>리플레이</a:t>
            </a:r>
            <a:r>
              <a:rPr lang="ko-KR" altLang="ko-KR" dirty="0"/>
              <a:t> 공격</a:t>
            </a:r>
            <a:endParaRPr lang="en-US" altLang="ko-KR" baseline="30000" dirty="0"/>
          </a:p>
          <a:p>
            <a:r>
              <a:rPr lang="ko-KR" altLang="ko-KR" dirty="0"/>
              <a:t>양자암호</a:t>
            </a:r>
            <a:r>
              <a:rPr lang="ko-KR" altLang="en-US" dirty="0"/>
              <a:t>는 </a:t>
            </a:r>
            <a:r>
              <a:rPr lang="ko-KR" altLang="ko-KR" dirty="0"/>
              <a:t>공격자가 신호를 측정하는 과정에서 실수를 하게 되는 경우 신호가 왜곡되어 </a:t>
            </a:r>
            <a:r>
              <a:rPr lang="ko-KR" altLang="ko-KR" b="1" dirty="0"/>
              <a:t>정확한 정보를 측정하지 못할뿐더러 왜곡된 신호를 통해 도청자의 존재가 발각</a:t>
            </a:r>
            <a:r>
              <a:rPr lang="ko-KR" altLang="en-US" dirty="0"/>
              <a:t>됨</a:t>
            </a:r>
            <a:endParaRPr lang="en-US" altLang="ko-KR" dirty="0"/>
          </a:p>
          <a:p>
            <a:r>
              <a:rPr lang="ko-KR" altLang="en-US" dirty="0"/>
              <a:t>다만 </a:t>
            </a:r>
            <a:r>
              <a:rPr lang="ko-KR" altLang="ko-KR" dirty="0" err="1"/>
              <a:t>퍼블릭</a:t>
            </a:r>
            <a:r>
              <a:rPr lang="en-US" altLang="ko-KR" dirty="0"/>
              <a:t> </a:t>
            </a:r>
            <a:r>
              <a:rPr lang="ko-KR" altLang="ko-KR" dirty="0"/>
              <a:t>채널에서는 일반적인 방법과 동일하게 용이한 도청이 가능</a:t>
            </a:r>
            <a:r>
              <a:rPr lang="ko-KR" altLang="en-US" dirty="0"/>
              <a:t>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8079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 가로채기 후 재전송으로부터의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(2/5)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송신자와 수신자는 </a:t>
            </a:r>
            <a:r>
              <a:rPr lang="ko-KR" altLang="ko-KR" dirty="0" err="1"/>
              <a:t>퍼블릭</a:t>
            </a:r>
            <a:r>
              <a:rPr lang="en-US" altLang="ko-KR" dirty="0"/>
              <a:t> </a:t>
            </a:r>
            <a:r>
              <a:rPr lang="ko-KR" altLang="ko-KR" dirty="0"/>
              <a:t>채널을 통해 교환된 비트의 </a:t>
            </a:r>
            <a:r>
              <a:rPr lang="ko-KR" altLang="ko-KR" dirty="0" err="1"/>
              <a:t>무결성을</a:t>
            </a:r>
            <a:r>
              <a:rPr lang="ko-KR" altLang="ko-KR" dirty="0"/>
              <a:t> 체크하여 도청자의 존재를 알아낼 수 있</a:t>
            </a:r>
            <a:r>
              <a:rPr lang="ko-KR" altLang="en-US" dirty="0"/>
              <a:t>음</a:t>
            </a:r>
            <a:endParaRPr lang="en-US" altLang="ko-KR" dirty="0"/>
          </a:p>
          <a:p>
            <a:r>
              <a:rPr lang="ko-KR" altLang="ko-KR" dirty="0"/>
              <a:t> 데이터가 손상되어있을 경우 중간에 누군가가 신호를 왜곡했다는 증거이며 이는 다시</a:t>
            </a:r>
            <a:r>
              <a:rPr lang="en-US" altLang="ko-KR" dirty="0"/>
              <a:t> </a:t>
            </a:r>
            <a:r>
              <a:rPr lang="ko-KR" altLang="ko-KR" dirty="0"/>
              <a:t>말해 도청자가 존재한다는 것으로 해석</a:t>
            </a:r>
            <a:r>
              <a:rPr lang="ko-KR" altLang="en-US" dirty="0"/>
              <a:t>가능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8079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 가로채기 후 재전송으로부터의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(3/5)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도청자가 하나의 광자를 정확히 측정할 확률은 75%이므로 n개의 광자를 사용하는 n비트 데이터의 경우 중간에 도청자가 발견될 확률은 다음과 같</a:t>
            </a:r>
            <a:r>
              <a:rPr lang="ko-KR" altLang="en-US" dirty="0"/>
              <a:t>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 descr="그림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39752" y="4149080"/>
            <a:ext cx="309146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8079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 가로채기 후 재전송으로부터의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(4/5)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n=72비트 데이터의 경우 도청자가 발견 될 확률은 P</a:t>
            </a:r>
            <a:r>
              <a:rPr lang="ko-KR" altLang="ko-KR" baseline="-25000" dirty="0"/>
              <a:t>d</a:t>
            </a:r>
            <a:r>
              <a:rPr lang="ko-KR" altLang="ko-KR" dirty="0"/>
              <a:t> = 0.999999999에 육박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ko-KR" dirty="0"/>
              <a:t>하지만 모든 데이터를 교환하는 것은 정보를 노출시킬 위험이 있으므로 보통은 데이터의 일부만 체크하여 도청자의 존재를 파악</a:t>
            </a:r>
            <a:r>
              <a:rPr lang="ko-KR" altLang="en-US" dirty="0"/>
              <a:t>함</a:t>
            </a:r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8079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 가로채기 후 재전송으로부터의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 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(5/5)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BB84 프로토콜에서 도청자가 중간에 난입해 있을 경우 어떻게 신호가 전송되고 왜곡되는지를 보여</a:t>
            </a:r>
            <a:r>
              <a:rPr lang="ko-KR" altLang="en-US" dirty="0"/>
              <a:t>주는 표</a:t>
            </a:r>
            <a:r>
              <a:rPr lang="ko-KR" altLang="ko-KR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 descr="그림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59632" y="3212976"/>
            <a:ext cx="6390477" cy="2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5692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복제 불가능성 원리에 의한 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보안성</a:t>
            </a:r>
            <a:endParaRPr lang="ko-KR" altLang="en-US" sz="2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-윤고딕330" pitchFamily="18" charset="-127"/>
              <a:ea typeface="-윤고딕330" pitchFamily="18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ko-KR" dirty="0"/>
              <a:t>양자암호의 제일 큰 보안성은 측정이 1회만 허용된다는</a:t>
            </a:r>
            <a:r>
              <a:rPr lang="en-US" altLang="ko-KR" dirty="0"/>
              <a:t> </a:t>
            </a:r>
            <a:r>
              <a:rPr lang="ko-KR" altLang="en-US" dirty="0"/>
              <a:t>것</a:t>
            </a:r>
            <a:endParaRPr lang="en-US" altLang="ko-KR" dirty="0"/>
          </a:p>
          <a:p>
            <a:r>
              <a:rPr lang="ko-KR" altLang="ko-KR" dirty="0"/>
              <a:t>최초의 기회를 제대로 활용하지 못할 경우 신호는 왜곡이 되며 두 번째 측정부터는 정확한 측정이 불가능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ko-KR" dirty="0"/>
              <a:t>전송 중인 광자를 한 번 복사하여 2개 이상의 광자를 생성한 다음 따로 측정하는 가설이 존재할 수 있으나, 양자역학의 기초현상 중 하나인 </a:t>
            </a:r>
            <a:r>
              <a:rPr lang="ko-KR" altLang="ko-KR" b="1" dirty="0"/>
              <a:t>복제 불가능성 원리</a:t>
            </a:r>
            <a:r>
              <a:rPr lang="ko-KR" altLang="ko-KR" dirty="0"/>
              <a:t>에 따라 광자의 완벽한 복사 자체가 불가능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1" y="5517232"/>
            <a:ext cx="1342079" cy="134076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"/>
          <a:stretch/>
        </p:blipFill>
        <p:spPr>
          <a:xfrm>
            <a:off x="0" y="463138"/>
            <a:ext cx="9144000" cy="63948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691505" y="2708920"/>
            <a:ext cx="3740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/>
            <a:r>
              <a:rPr lang="en-US" altLang="ko-KR" sz="2800" b="1" dirty="0"/>
              <a:t>4. </a:t>
            </a:r>
            <a:r>
              <a:rPr lang="ko-KR" altLang="en-US" sz="2800" b="1" dirty="0"/>
              <a:t>양자 암호의 취약점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1999392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광자분리공격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ko-KR" b="1" dirty="0"/>
              <a:t>광자분리공격</a:t>
            </a:r>
            <a:r>
              <a:rPr lang="ko-KR" altLang="ko-KR" dirty="0"/>
              <a:t>(PNS Attack)은 현재 존재하는 </a:t>
            </a:r>
            <a:r>
              <a:rPr lang="ko-KR" altLang="ko-KR" dirty="0" err="1"/>
              <a:t>단일광자생성기의</a:t>
            </a:r>
            <a:r>
              <a:rPr lang="ko-KR" altLang="ko-KR" dirty="0"/>
              <a:t> </a:t>
            </a:r>
            <a:r>
              <a:rPr lang="ko-KR" altLang="ko-KR" dirty="0" err="1"/>
              <a:t>불완정성을</a:t>
            </a:r>
            <a:r>
              <a:rPr lang="ko-KR" altLang="ko-KR" dirty="0"/>
              <a:t> 이용하여 파훼하는 방법</a:t>
            </a:r>
            <a:endParaRPr lang="en-US" altLang="ko-KR" dirty="0"/>
          </a:p>
          <a:p>
            <a:r>
              <a:rPr lang="ko-KR" altLang="ko-KR" dirty="0"/>
              <a:t>일반적으로 신호를 생성하면 하나의 광자만 생성되지 않고 수개의 광자가 동시에 생성되어 전송</a:t>
            </a:r>
            <a:r>
              <a:rPr lang="ko-KR" altLang="en-US" dirty="0"/>
              <a:t>됨</a:t>
            </a:r>
            <a:endParaRPr lang="en-US" altLang="ko-KR" dirty="0"/>
          </a:p>
          <a:p>
            <a:r>
              <a:rPr lang="ko-KR" altLang="ko-KR" dirty="0"/>
              <a:t>통신회선 중간에 반투명거울을 설치하여 광신호의 일부를 분리해 낸 다음 측정하여 전송되는 신호가 무엇인지 알아내는 공격방법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33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맨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-</a:t>
            </a:r>
            <a:r>
              <a:rPr lang="ko-KR" altLang="en-US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인더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-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미들</a:t>
            </a:r>
            <a:r>
              <a:rPr lang="en-US" altLang="ko-KR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-</a:t>
            </a:r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어택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b="1" dirty="0"/>
              <a:t>맨-</a:t>
            </a:r>
            <a:r>
              <a:rPr lang="ko-KR" altLang="ko-KR" b="1" dirty="0" err="1"/>
              <a:t>인더</a:t>
            </a:r>
            <a:r>
              <a:rPr lang="ko-KR" altLang="ko-KR" b="1" dirty="0"/>
              <a:t>-미들-어택</a:t>
            </a:r>
            <a:r>
              <a:rPr lang="ko-KR" altLang="ko-KR" dirty="0"/>
              <a:t>은 중간에 공격자가 중계소 행세를 하며 송신자와 수신자를 교란하는 방법</a:t>
            </a:r>
            <a:endParaRPr lang="en-US" altLang="ko-KR" dirty="0"/>
          </a:p>
          <a:p>
            <a:r>
              <a:rPr lang="ko-KR" altLang="ko-KR" dirty="0"/>
              <a:t>송신자와 공격자 사이에 다른 키를 서로 공유하고, 공격자와 수신자 사이에 다른 키를 공유하며 중간에서 오가는 신호를 도청하는 방법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47266" l="53438" r="98047">
                        <a14:foregroundMark x1="69141" y1="13477" x2="68594" y2="20410"/>
                        <a14:foregroundMark x1="65781" y1="32227" x2="64531" y2="39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363" b="52533"/>
          <a:stretch/>
        </p:blipFill>
        <p:spPr>
          <a:xfrm>
            <a:off x="67778" y="251089"/>
            <a:ext cx="997863" cy="84889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-57773" y="6597352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57773" y="-12853"/>
            <a:ext cx="9259546" cy="26394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100000">
                <a:schemeClr val="tx1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0177" y="644438"/>
            <a:ext cx="293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-윤고딕330" pitchFamily="18" charset="-127"/>
                <a:ea typeface="-윤고딕330" pitchFamily="18" charset="-127"/>
              </a:rPr>
              <a:t>서비스 거부 공격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b="1" dirty="0"/>
              <a:t>서비스 거부 공격</a:t>
            </a:r>
            <a:r>
              <a:rPr lang="ko-KR" altLang="ko-KR" dirty="0"/>
              <a:t>(DoS)은 통신선상에 과부하를 주어서 정상적인 통신을 하지 못하거나 하기 힘들게 만드는</a:t>
            </a:r>
            <a:r>
              <a:rPr lang="en-US" altLang="ko-KR" dirty="0"/>
              <a:t> </a:t>
            </a:r>
            <a:r>
              <a:rPr lang="ko-KR" altLang="en-US" dirty="0"/>
              <a:t>방법임</a:t>
            </a:r>
            <a:endParaRPr lang="en-US" altLang="ko-KR" dirty="0"/>
          </a:p>
          <a:p>
            <a:r>
              <a:rPr lang="ko-KR" altLang="ko-KR" dirty="0"/>
              <a:t>제일 대표적인 서비스 거부 공격으로는 케이블의 물리적 절단이 있</a:t>
            </a:r>
            <a:r>
              <a:rPr lang="ko-KR" altLang="en-US" dirty="0"/>
              <a:t>음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그 외에도 </a:t>
            </a:r>
            <a:r>
              <a:rPr lang="ko-KR" altLang="ko-KR" dirty="0" err="1"/>
              <a:t>퍼블릭</a:t>
            </a:r>
            <a:r>
              <a:rPr lang="ko-KR" altLang="ko-KR" dirty="0"/>
              <a:t> 채널을 대상으로 하는 고전적인 서비스 거부 공격</a:t>
            </a:r>
            <a:r>
              <a:rPr lang="en-US" altLang="ko-KR" dirty="0"/>
              <a:t> </a:t>
            </a:r>
            <a:r>
              <a:rPr lang="ko-KR" altLang="ko-KR" dirty="0"/>
              <a:t>등이 가능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297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2110" y="6394862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483768" y="2708920"/>
            <a:ext cx="445707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altLang="ko-KR" sz="8000" b="1" cap="none" spc="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Q &amp; A</a:t>
            </a:r>
            <a:endParaRPr lang="ko-KR" altLang="en-US" sz="80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9598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2110" y="0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2110" y="6394862"/>
            <a:ext cx="9144000" cy="463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411760" y="2276872"/>
            <a:ext cx="4457072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altLang="ko-KR" sz="8000" b="1" cap="none" spc="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Thank You</a:t>
            </a:r>
            <a:endParaRPr lang="ko-KR" altLang="en-US" sz="80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959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1680</Words>
  <Application>Microsoft Office PowerPoint</Application>
  <PresentationFormat>화면 슬라이드 쇼(4:3)</PresentationFormat>
  <Paragraphs>155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맑은 고딕</vt:lpstr>
      <vt:lpstr>-윤고딕330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책쟁이</dc:creator>
  <cp:lastModifiedBy>aNitMotD</cp:lastModifiedBy>
  <cp:revision>25</cp:revision>
  <dcterms:created xsi:type="dcterms:W3CDTF">2011-04-18T00:17:15Z</dcterms:created>
  <dcterms:modified xsi:type="dcterms:W3CDTF">2025-08-16T17:48:50Z</dcterms:modified>
</cp:coreProperties>
</file>